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7cd840f5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e7cd840f5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7cd840f5_0_10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e7cd840f5_0_1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Notre projet s’inscrit dans le cadre du module </a:t>
            </a:r>
            <a:r>
              <a:rPr i="1" lang="fr">
                <a:solidFill>
                  <a:schemeClr val="dk1"/>
                </a:solidFill>
              </a:rPr>
              <a:t>Infrastructure Cloud et Virtualisation</a:t>
            </a:r>
            <a:r>
              <a:rPr lang="fr">
                <a:solidFill>
                  <a:schemeClr val="dk1"/>
                </a:solidFill>
              </a:rPr>
              <a:t>.</a:t>
            </a:r>
            <a:br>
              <a:rPr lang="fr">
                <a:solidFill>
                  <a:schemeClr val="dk1"/>
                </a:solidFill>
              </a:rPr>
            </a:br>
            <a:r>
              <a:rPr lang="fr">
                <a:solidFill>
                  <a:schemeClr val="dk1"/>
                </a:solidFill>
              </a:rPr>
              <a:t> L’objectif était de </a:t>
            </a:r>
            <a:r>
              <a:rPr b="1" lang="fr">
                <a:solidFill>
                  <a:schemeClr val="dk1"/>
                </a:solidFill>
              </a:rPr>
              <a:t>concevoir une boutique en ligne complète</a:t>
            </a:r>
            <a:r>
              <a:rPr lang="fr">
                <a:solidFill>
                  <a:schemeClr val="dk1"/>
                </a:solidFill>
              </a:rPr>
              <a:t> permettant aux clients de consulter un catalogue, d’ajouter des articles à leur panier, de passer commande et de recevoir automatiquement une confirmation.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Le défi principal était de </a:t>
            </a:r>
            <a:r>
              <a:rPr b="1" lang="fr">
                <a:solidFill>
                  <a:schemeClr val="dk1"/>
                </a:solidFill>
              </a:rPr>
              <a:t>concevoir une architecture à la fois moderne, et rentable </a:t>
            </a:r>
            <a:r>
              <a:rPr lang="fr">
                <a:solidFill>
                  <a:schemeClr val="dk1"/>
                </a:solidFill>
              </a:rPr>
              <a:t>tout en respectant la contrainte du </a:t>
            </a:r>
            <a:r>
              <a:rPr b="1" lang="fr">
                <a:solidFill>
                  <a:schemeClr val="dk1"/>
                </a:solidFill>
              </a:rPr>
              <a:t>Free Tier AWS</a:t>
            </a:r>
            <a:r>
              <a:rPr lang="fr">
                <a:solidFill>
                  <a:schemeClr val="dk1"/>
                </a:solidFill>
              </a:rPr>
              <a:t>, c’est-à-dire sans générer de coûts supplémentaires.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Pour cela, nous avons choisi de combiner plusieurs technologies clés d’AWS afin de </a:t>
            </a:r>
            <a:r>
              <a:rPr b="1" lang="fr">
                <a:solidFill>
                  <a:schemeClr val="dk1"/>
                </a:solidFill>
              </a:rPr>
              <a:t>bâtir une architecture cloud 100 % managée</a:t>
            </a:r>
            <a:r>
              <a:rPr lang="fr">
                <a:solidFill>
                  <a:schemeClr val="dk1"/>
                </a:solidFill>
              </a:rPr>
              <a:t> 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>
                <a:solidFill>
                  <a:schemeClr val="dk1"/>
                </a:solidFill>
              </a:rPr>
              <a:t>Une partie </a:t>
            </a:r>
            <a:r>
              <a:rPr b="1" lang="fr">
                <a:solidFill>
                  <a:schemeClr val="dk1"/>
                </a:solidFill>
              </a:rPr>
              <a:t>frontend</a:t>
            </a:r>
            <a:r>
              <a:rPr lang="fr">
                <a:solidFill>
                  <a:schemeClr val="dk1"/>
                </a:solidFill>
              </a:rPr>
              <a:t> déployée sur </a:t>
            </a:r>
            <a:r>
              <a:rPr i="1" lang="fr">
                <a:solidFill>
                  <a:schemeClr val="dk1"/>
                </a:solidFill>
              </a:rPr>
              <a:t>Amazon S3</a:t>
            </a:r>
            <a:r>
              <a:rPr lang="fr">
                <a:solidFill>
                  <a:schemeClr val="dk1"/>
                </a:solidFill>
              </a:rPr>
              <a:t> et distribuée via </a:t>
            </a:r>
            <a:r>
              <a:rPr i="1" lang="fr">
                <a:solidFill>
                  <a:schemeClr val="dk1"/>
                </a:solidFill>
              </a:rPr>
              <a:t>CloudFront</a:t>
            </a:r>
            <a:r>
              <a:rPr lang="fr">
                <a:solidFill>
                  <a:schemeClr val="dk1"/>
                </a:solidFill>
              </a:rPr>
              <a:t> pour les performances et la haute disponibilité,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>
                <a:solidFill>
                  <a:schemeClr val="dk1"/>
                </a:solidFill>
              </a:rPr>
              <a:t>Une partie </a:t>
            </a:r>
            <a:r>
              <a:rPr b="1" lang="fr">
                <a:solidFill>
                  <a:schemeClr val="dk1"/>
                </a:solidFill>
              </a:rPr>
              <a:t>backend</a:t>
            </a:r>
            <a:r>
              <a:rPr lang="fr">
                <a:solidFill>
                  <a:schemeClr val="dk1"/>
                </a:solidFill>
              </a:rPr>
              <a:t> entièrement </a:t>
            </a:r>
            <a:r>
              <a:rPr i="1" lang="fr">
                <a:solidFill>
                  <a:schemeClr val="dk1"/>
                </a:solidFill>
              </a:rPr>
              <a:t>serverless</a:t>
            </a:r>
            <a:r>
              <a:rPr lang="fr">
                <a:solidFill>
                  <a:schemeClr val="dk1"/>
                </a:solidFill>
              </a:rPr>
              <a:t>, construite autour de </a:t>
            </a:r>
            <a:r>
              <a:rPr i="1" lang="fr">
                <a:solidFill>
                  <a:schemeClr val="dk1"/>
                </a:solidFill>
              </a:rPr>
              <a:t>Lambda</a:t>
            </a:r>
            <a:r>
              <a:rPr lang="fr">
                <a:solidFill>
                  <a:schemeClr val="dk1"/>
                </a:solidFill>
              </a:rPr>
              <a:t> et </a:t>
            </a:r>
            <a:r>
              <a:rPr i="1" lang="fr">
                <a:solidFill>
                  <a:schemeClr val="dk1"/>
                </a:solidFill>
              </a:rPr>
              <a:t>API Gateway</a:t>
            </a:r>
            <a:r>
              <a:rPr lang="fr">
                <a:solidFill>
                  <a:schemeClr val="dk1"/>
                </a:solidFill>
              </a:rPr>
              <a:t> pour gérer la logique applicative et les paiements,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>
                <a:solidFill>
                  <a:schemeClr val="dk1"/>
                </a:solidFill>
              </a:rPr>
              <a:t>Et enfin une </a:t>
            </a:r>
            <a:r>
              <a:rPr b="1" lang="fr">
                <a:solidFill>
                  <a:schemeClr val="dk1"/>
                </a:solidFill>
              </a:rPr>
              <a:t>intégration de services tiers</a:t>
            </a:r>
            <a:r>
              <a:rPr lang="fr">
                <a:solidFill>
                  <a:schemeClr val="dk1"/>
                </a:solidFill>
              </a:rPr>
              <a:t>, comme </a:t>
            </a:r>
            <a:r>
              <a:rPr i="1" lang="fr">
                <a:solidFill>
                  <a:schemeClr val="dk1"/>
                </a:solidFill>
              </a:rPr>
              <a:t>Stripe</a:t>
            </a:r>
            <a:r>
              <a:rPr lang="fr">
                <a:solidFill>
                  <a:schemeClr val="dk1"/>
                </a:solidFill>
              </a:rPr>
              <a:t> pour le paiement en ligne et </a:t>
            </a:r>
            <a:r>
              <a:rPr i="1" lang="fr">
                <a:solidFill>
                  <a:schemeClr val="dk1"/>
                </a:solidFill>
              </a:rPr>
              <a:t>SNS</a:t>
            </a:r>
            <a:r>
              <a:rPr lang="fr">
                <a:solidFill>
                  <a:schemeClr val="dk1"/>
                </a:solidFill>
              </a:rPr>
              <a:t> pour les notifications automatiques.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D’un point de vue pédagogique, l’objectif était aussi de </a:t>
            </a:r>
            <a:r>
              <a:rPr b="1" lang="fr">
                <a:solidFill>
                  <a:schemeClr val="dk1"/>
                </a:solidFill>
              </a:rPr>
              <a:t>maîtriser la démarche DevOps</a:t>
            </a:r>
            <a:r>
              <a:rPr lang="fr">
                <a:solidFill>
                  <a:schemeClr val="dk1"/>
                </a:solidFill>
              </a:rPr>
              <a:t>, en mettant en place l’infrastructure via </a:t>
            </a:r>
            <a:r>
              <a:rPr i="1" lang="fr">
                <a:solidFill>
                  <a:schemeClr val="dk1"/>
                </a:solidFill>
              </a:rPr>
              <a:t>Terraform</a:t>
            </a:r>
            <a:r>
              <a:rPr lang="fr">
                <a:solidFill>
                  <a:schemeClr val="dk1"/>
                </a:solidFill>
              </a:rPr>
              <a:t>, afin de pouvoir la déployer ou la détruire automatiquement en quelques minutes.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e7cd840f5_0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e7cd840f5_0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e7cd840f5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e7cd840f5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e7cd840f5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e7cd840f5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e7cd840f5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e7cd840f5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e8b1110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e8b1110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ece7305d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ece7305d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ece7305d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ece7305d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ece7305d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ece7305d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e7cd840f5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e7cd840f5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eea8345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eea8345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ebe8b833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ebe8b833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e7cd840f5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e7cd840f5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e7cd840f5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e7cd840f5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3892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Projet E-Commerce AWS</a:t>
            </a:r>
            <a:endParaRPr b="1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999675" y="3035275"/>
            <a:ext cx="4066800" cy="13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500"/>
              <a:t>IMT Nord Europe</a:t>
            </a:r>
            <a:br>
              <a:rPr b="1" lang="fr" sz="1500"/>
            </a:br>
            <a:r>
              <a:rPr b="1" lang="fr" sz="1500"/>
              <a:t>FISA TI 2026</a:t>
            </a:r>
            <a:endParaRPr b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/>
              <a:t>Islem ZOUAOUI  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/>
              <a:t>Zhengkun YANG 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/>
              <a:t>Vianney MARC</a:t>
            </a:r>
            <a:endParaRPr b="1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Ordre du jour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1607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Contexte et Objectifs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Architecture Globale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Workflow d'une Commande (Démo)</a:t>
            </a:r>
            <a:endParaRPr sz="1604"/>
          </a:p>
          <a:p>
            <a:pPr indent="-330517" lvl="0" marL="457200" rtl="0" algn="l"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Forces de l’Architecture</a:t>
            </a:r>
            <a:endParaRPr sz="1604"/>
          </a:p>
          <a:p>
            <a:pPr indent="-330517" lvl="0" marL="457200" rtl="0" algn="l"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Architecture secondaire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Infrastructure as Code (Terraform)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Gestion de la facturation</a:t>
            </a:r>
            <a:endParaRPr sz="1604"/>
          </a:p>
          <a:p>
            <a:pPr indent="-3305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5"/>
              <a:buChar char="❖"/>
            </a:pPr>
            <a:r>
              <a:rPr lang="fr" sz="1604"/>
              <a:t>Conclusion et Perspectives</a:t>
            </a:r>
            <a:endParaRPr sz="1604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626550" y="1913850"/>
            <a:ext cx="8380800" cy="13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Création d'une plateforme web e-commerce complète gérant les commandes, les paiements et les notifications.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Démonstration d'une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architecture moderne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évolutive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résiliente 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sécurisée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Maintien d'une contrainte budgétaire grâce au déploiement initial sur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AWS Free Tier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Contexte et Objectifs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Architecture Globale</a:t>
            </a:r>
            <a:endParaRPr b="1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869500" y="1425050"/>
            <a:ext cx="4867800" cy="292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Plateforme développée avec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Next.js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 pour le frontend hébergée sur S3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Intégration de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Stripe 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pour la gestion des paiements et des commandes.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fr" sz="1500">
                <a:latin typeface="Arial"/>
                <a:ea typeface="Arial"/>
                <a:cs typeface="Arial"/>
                <a:sym typeface="Arial"/>
              </a:rPr>
              <a:t>Déploiement et gestion de l'infrastructure via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Terraform 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et les services </a:t>
            </a:r>
            <a:r>
              <a:rPr b="1" lang="fr" sz="1500">
                <a:latin typeface="Arial"/>
                <a:ea typeface="Arial"/>
                <a:cs typeface="Arial"/>
                <a:sym typeface="Arial"/>
              </a:rPr>
              <a:t>AWS </a:t>
            </a:r>
            <a:r>
              <a:rPr lang="fr" sz="1500">
                <a:latin typeface="Arial"/>
                <a:ea typeface="Arial"/>
                <a:cs typeface="Arial"/>
                <a:sym typeface="Arial"/>
              </a:rPr>
              <a:t>(approche Infrastructure-as-Code).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575" y="1560987"/>
            <a:ext cx="3600399" cy="202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Architecture Globale</a:t>
            </a:r>
            <a:endParaRPr b="1"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400" y="1049075"/>
            <a:ext cx="7604651" cy="400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Workflow d'une Commande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(démo)</a:t>
            </a:r>
            <a:endParaRPr b="1"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344000" y="1408250"/>
            <a:ext cx="6456000" cy="30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1. Le client clique sur 'Passer au paiement' sur le frontend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2. API Gateway → Lambda Checkout → Stripe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3. Paiement sur Stripe Checkout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4. Stripe webhook → Lambda Webhook.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5. Lambda envoie commande vers SQS.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6. Lambda Worker traite (DynamoDB + SQS Long Tasks) &amp; déclenche EC2.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7. EC2 simule expédition &amp; RDS &amp; envoie email via SNS.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367550" y="1312950"/>
            <a:ext cx="6596700" cy="25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Frontend : Application Next.js hébergée sur S3 + CloudFront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Backend : Architecture serverless avec Lambda, SQS, EC2 (</a:t>
            </a: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Node.js worker</a:t>
            </a: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Base de données : DynamoDB (NoSQL) + RDS MySQL (Analytics)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Authentification : AWS Cognito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Paiements : Intégration Stripe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Workers : EC2 pour les tâches longues (packaging, shipping)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Notifications : SNS pour emails automatiques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Infrastructure as Code : Terraform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Monitoring : CloudWatch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Forces de l’Architecture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869225" y="710300"/>
            <a:ext cx="8130300" cy="39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2737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1325"/>
              <a:buFont typeface="Arial"/>
              <a:buChar char="●"/>
            </a:pPr>
            <a:r>
              <a:rPr b="1" lang="fr" sz="1325">
                <a:latin typeface="Arial"/>
                <a:ea typeface="Arial"/>
                <a:cs typeface="Arial"/>
                <a:sym typeface="Arial"/>
              </a:rPr>
              <a:t>Architecture Hybride :</a:t>
            </a:r>
            <a:endParaRPr b="1" sz="1325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75"/>
              <a:buFont typeface="Arial"/>
              <a:buChar char="○"/>
            </a:pPr>
            <a:r>
              <a:rPr b="1" lang="fr" sz="1275">
                <a:latin typeface="Arial"/>
                <a:ea typeface="Arial"/>
                <a:cs typeface="Arial"/>
                <a:sym typeface="Arial"/>
              </a:rPr>
              <a:t>Lambda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pour les webhooks et le worker(serverless).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75"/>
              <a:buFont typeface="Arial"/>
              <a:buChar char="○"/>
            </a:pPr>
            <a:r>
              <a:rPr b="1" lang="fr" sz="1275">
                <a:latin typeface="Arial"/>
                <a:ea typeface="Arial"/>
                <a:cs typeface="Arial"/>
                <a:sym typeface="Arial"/>
              </a:rPr>
              <a:t>EC2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pour les traitements longs.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75"/>
              <a:buFont typeface="Arial"/>
              <a:buChar char="○"/>
            </a:pPr>
            <a:r>
              <a:rPr lang="fr" sz="1275">
                <a:latin typeface="Arial"/>
                <a:ea typeface="Arial"/>
                <a:cs typeface="Arial"/>
                <a:sym typeface="Arial"/>
              </a:rPr>
              <a:t>Architecture conforme, performante et robuste.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1273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25"/>
              <a:buFont typeface="Arial"/>
              <a:buChar char="●"/>
            </a:pPr>
            <a:r>
              <a:rPr b="1" lang="fr" sz="1325">
                <a:latin typeface="Arial"/>
                <a:ea typeface="Arial"/>
                <a:cs typeface="Arial"/>
                <a:sym typeface="Arial"/>
              </a:rPr>
              <a:t>Scalabilité &amp; Résilience : </a:t>
            </a:r>
            <a:endParaRPr b="1" sz="1275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75"/>
              <a:buFont typeface="Arial"/>
              <a:buChar char="○"/>
            </a:pPr>
            <a:r>
              <a:rPr b="1" lang="fr" sz="1275">
                <a:latin typeface="Arial"/>
                <a:ea typeface="Arial"/>
                <a:cs typeface="Arial"/>
                <a:sym typeface="Arial"/>
              </a:rPr>
              <a:t>Lambda + SQS 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pour l’auto-scalabilité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75"/>
              <a:buFont typeface="Arial"/>
              <a:buChar char="○"/>
            </a:pPr>
            <a:r>
              <a:rPr lang="fr" sz="1275">
                <a:latin typeface="Arial"/>
                <a:ea typeface="Arial"/>
                <a:cs typeface="Arial"/>
                <a:sym typeface="Arial"/>
              </a:rPr>
              <a:t>Microservices découplés par files d’attente.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0956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75"/>
              <a:buFont typeface="Arial"/>
              <a:buChar char="○"/>
            </a:pPr>
            <a:r>
              <a:rPr b="1" lang="fr" sz="1275">
                <a:latin typeface="Arial"/>
                <a:ea typeface="Arial"/>
                <a:cs typeface="Arial"/>
                <a:sym typeface="Arial"/>
              </a:rPr>
              <a:t>Multi-AZ &amp; CloudFront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pour la haute disponibilité.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fr" sz="1325">
                <a:latin typeface="Arial"/>
                <a:ea typeface="Arial"/>
                <a:cs typeface="Arial"/>
                <a:sym typeface="Arial"/>
              </a:rPr>
              <a:t>Event-Driven :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Webhook Lambda,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SQS, SNS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pour 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la gestion des événements, la 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communication asynchrone et le streaming temps réel.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fr" sz="1325">
                <a:latin typeface="Arial"/>
                <a:ea typeface="Arial"/>
                <a:cs typeface="Arial"/>
                <a:sym typeface="Arial"/>
              </a:rPr>
              <a:t>Paiement Stripe :</a:t>
            </a:r>
            <a:r>
              <a:rPr lang="fr" sz="132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Intégration réelle via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Stripe API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. 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fr" sz="1325">
                <a:latin typeface="Arial"/>
                <a:ea typeface="Arial"/>
                <a:cs typeface="Arial"/>
                <a:sym typeface="Arial"/>
              </a:rPr>
              <a:t>Sécurité :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VPC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IAM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API Gateway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et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Cognito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pour une protection complète.</a:t>
            </a:r>
            <a:endParaRPr sz="1275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b="1" lang="fr" sz="1325">
                <a:latin typeface="Arial"/>
                <a:ea typeface="Arial"/>
                <a:cs typeface="Arial"/>
                <a:sym typeface="Arial"/>
              </a:rPr>
              <a:t>Observabilité : </a:t>
            </a:r>
            <a:r>
              <a:rPr b="1" lang="fr" sz="1275">
                <a:latin typeface="Arial"/>
                <a:ea typeface="Arial"/>
                <a:cs typeface="Arial"/>
                <a:sym typeface="Arial"/>
              </a:rPr>
              <a:t>CloudWatch Logs &amp; Metrics</a:t>
            </a:r>
            <a:r>
              <a:rPr lang="fr" sz="1275">
                <a:latin typeface="Arial"/>
                <a:ea typeface="Arial"/>
                <a:cs typeface="Arial"/>
                <a:sym typeface="Arial"/>
              </a:rPr>
              <a:t> pour le suivi et les alertes en temps réel.</a:t>
            </a:r>
            <a:endParaRPr sz="137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241075"/>
            <a:ext cx="7038900" cy="5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Forces de l’Architecture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Architecture secondaire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400" y="992150"/>
            <a:ext cx="4941249" cy="38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Tableau comparatif des architectures</a:t>
            </a:r>
            <a:endParaRPr/>
          </a:p>
        </p:txBody>
      </p:sp>
      <p:pic>
        <p:nvPicPr>
          <p:cNvPr id="190" name="Google Shape;1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925" y="1268000"/>
            <a:ext cx="743430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Schéma déroulement d’une commande</a:t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613" y="1197000"/>
            <a:ext cx="6970777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Infrastructure as Code (Terraform)</a:t>
            </a:r>
            <a:endParaRPr b="1"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2494900" y="1817850"/>
            <a:ext cx="6408900" cy="15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Provisionnement complet via Terraform.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Modules pour : VPC, EC2, Lambda, RDS, Cognito, S3, CloudFront, SNS, etc.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Configuration centralisée : terraform.tfvars.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Reproductibilité, contrôle de version, sécurité.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Char char="●"/>
            </a:pPr>
            <a:r>
              <a:rPr lang="fr" sz="1500">
                <a:latin typeface="Calibri"/>
                <a:ea typeface="Calibri"/>
                <a:cs typeface="Calibri"/>
                <a:sym typeface="Calibri"/>
              </a:rPr>
              <a:t>Output automatiques pour intégration front.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775" y="1108225"/>
            <a:ext cx="1068175" cy="3828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Gestion de la facturation</a:t>
            </a:r>
            <a:endParaRPr b="1"/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625" y="1007100"/>
            <a:ext cx="5692750" cy="3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Gestion de la facturation</a:t>
            </a:r>
            <a:endParaRPr/>
          </a:p>
        </p:txBody>
      </p:sp>
      <p:pic>
        <p:nvPicPr>
          <p:cNvPr id="215" name="Google Shape;2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050" y="1234625"/>
            <a:ext cx="3545174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297500" y="1276600"/>
            <a:ext cx="7038900" cy="32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Ce projet nous a permis </a:t>
            </a:r>
            <a:r>
              <a:rPr lang="fr"/>
              <a:t>d'aborder</a:t>
            </a:r>
            <a:r>
              <a:rPr lang="fr"/>
              <a:t> les notions :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Architecture serverless et cloud hybride</a:t>
            </a:r>
            <a:br>
              <a:rPr lang="fr"/>
            </a:b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Sécurité réseau et authentification</a:t>
            </a:r>
            <a:br>
              <a:rPr lang="fr"/>
            </a:b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Infrastructure as Code</a:t>
            </a:r>
            <a:br>
              <a:rPr lang="fr"/>
            </a:b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Gestion d’événements et files d’attente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Pour la suite, nous pourrions intégrer :</a:t>
            </a:r>
            <a:endParaRPr/>
          </a:p>
          <a:p>
            <a:pPr indent="-298767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Une interface d’administration plus poussée,</a:t>
            </a:r>
            <a:br>
              <a:rPr lang="fr"/>
            </a:br>
            <a:endParaRPr/>
          </a:p>
          <a:p>
            <a:pPr indent="-29876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fr"/>
              <a:t>Des dashboards analytiques connectés à RDS,</a:t>
            </a:r>
            <a:br>
              <a:rPr lang="fr"/>
            </a:br>
            <a:endParaRPr/>
          </a:p>
          <a:p>
            <a:pPr indent="-298767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8181"/>
              <a:buChar char="●"/>
            </a:pPr>
            <a:r>
              <a:rPr lang="fr"/>
              <a:t>Et pourquoi pas un CI/CD complet via AWS CodePipeline.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Conclusion et Perspectives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2124300" y="1988700"/>
            <a:ext cx="4895400" cy="11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200">
                <a:latin typeface="Calibri"/>
                <a:ea typeface="Calibri"/>
                <a:cs typeface="Calibri"/>
                <a:sym typeface="Calibri"/>
              </a:rPr>
              <a:t>Merci pour votre attention !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